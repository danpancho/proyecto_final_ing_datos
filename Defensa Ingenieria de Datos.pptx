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09FA-E6D4-0BAB-AB81-37AA5921A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32423-95EE-CA16-57A8-F668CF1F6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15611-EE43-97C8-8AEE-D989EB564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B32E-4739-43F1-A31B-58C6F77D1E2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09C92-7FA7-8449-EA2C-FD75CBF3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E7128-B458-5BF4-70AD-F4F5C7E39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B625B-DE8F-4D50-B339-DE94CAF7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5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44D2C-0CE7-A442-0E59-AE672C2B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79F25-8D08-F00B-B334-093FB54EA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41CFC-B783-7B37-1C8A-E18715F6F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B32E-4739-43F1-A31B-58C6F77D1E2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13BB-7621-17FB-9B41-F662E52D6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4E82D-3E2F-6957-4807-4F983832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B625B-DE8F-4D50-B339-DE94CAF7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9C27E-47C2-917D-000B-4700FCD4B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04871-DC3A-1710-1411-001488F8C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6E1B1-13C3-911B-82D0-DA561DA95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B32E-4739-43F1-A31B-58C6F77D1E2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020BB-2644-DFC4-D7BF-96969DCB1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40554-8EF2-F8BA-AEE1-E8992722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B625B-DE8F-4D50-B339-DE94CAF7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5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DB43B-0E22-B429-EC12-E4FB65EA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59CFA-D79D-F994-0B4D-6A89567A4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BC94F1-5133-B1DB-B62E-3D79BCBFF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DE1EE-0EA9-5E33-737F-22DBC5E8C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B32E-4739-43F1-A31B-58C6F77D1E2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568D7-2648-070D-5F93-8B9182ED7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4DC0E-F520-B4F5-E9EA-67D350B9D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B625B-DE8F-4D50-B339-DE94CAF7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70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735B4-CE0B-BCB3-1963-06C7B5F8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22A00-109C-23AE-CC79-CBFBB35B0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ECD3D-3554-E0D5-F233-1EAF7356F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3E133-09C7-28EE-3B34-900B0D191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FEC54-558D-3825-3515-64B28D517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F14ED3-9F11-3CEB-8F0D-73BC5AFBE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B32E-4739-43F1-A31B-58C6F77D1E2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08CF5D-B668-09CB-03EB-C16216E64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8F27C-31DB-C548-24E5-46BF7B6B8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B625B-DE8F-4D50-B339-DE94CAF7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5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C0B-3A1E-5E1E-3FAF-F8F3F3A74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7E466-0B51-FB25-2751-3AA111060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B32E-4739-43F1-A31B-58C6F77D1E2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63975-0235-76A4-022A-DDFFD7AA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810DC-D3B4-533D-64FF-0140C38CD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B625B-DE8F-4D50-B339-DE94CAF7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15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7A906-2245-F28D-D91F-944EDB82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B32E-4739-43F1-A31B-58C6F77D1E2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0BEB07-6791-21D6-B39E-2DCD9145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C328-9645-49E2-C7FC-FBD0ED2A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B625B-DE8F-4D50-B339-DE94CAF7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54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D32B-C6E1-53A7-7A76-A983E4C0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F37C4-F8A4-5DEE-DF0D-63BEE25E3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C9687-0006-6677-AE92-FECA84AC8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A126C-AA5F-E9A0-FABD-23A0BAAFA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B32E-4739-43F1-A31B-58C6F77D1E2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07AE8-960E-B2D3-F6B8-E0BAA8EC4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91688-F783-0B92-1942-3868B6E1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B625B-DE8F-4D50-B339-DE94CAF7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9B73-CAAD-D8FF-E7F1-3AF26D20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80FE9C-F5A6-9C50-C3E6-F39332D9F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89DBF-E97A-C0B7-99A4-17AC789B8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1B14E-8794-EB3C-4650-57345189A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B32E-4739-43F1-A31B-58C6F77D1E2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D5577-176F-7A0A-892C-879D3AA2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16D5E-232C-43DD-F428-7D1363FA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B625B-DE8F-4D50-B339-DE94CAF7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33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3D58-33B8-CAD5-0EA4-BDA9E9811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7A1F4-A04D-D381-DC45-1496CDF73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1F370-CE81-C61F-5EDC-5F4472F9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B32E-4739-43F1-A31B-58C6F77D1E2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596DD-11D2-7C0B-3DCA-718CD84C0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9981F-8A78-5C7C-AF10-D4307061B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B625B-DE8F-4D50-B339-DE94CAF7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90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4EC184-4BA8-06FD-3DC1-FA61FB9CC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4CCF5-47DE-6BCF-049F-FBDDC1004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5E3E3-28A7-69DC-1BA9-CC51BEB4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B32E-4739-43F1-A31B-58C6F77D1E2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CF9A-EC15-6B8C-91DA-6F005EF7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7A2E1-4054-F07A-9075-54AF929C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B625B-DE8F-4D50-B339-DE94CAF7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1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B666C6-5E32-FF34-450D-CFBCBDF9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65337-8916-7140-37BE-32655C4C6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E5DC9-2CB1-D477-CA1D-88372C41C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1DB32E-4739-43F1-A31B-58C6F77D1E2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38223-13BF-5E48-6946-40FE3C0A8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CC4CD-B333-588F-D2EF-D3F2869FB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B625B-DE8F-4D50-B339-DE94CAF7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88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A481B-E9C6-52A0-2F26-A3827DB9F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266611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  <a:t>Universidad San Francisco de Quito</a:t>
            </a:r>
            <a:br>
              <a:rPr lang="en-US" sz="4000" b="1" dirty="0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</a:br>
            <a:br>
              <a:rPr lang="en-US" sz="4000" b="1" dirty="0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</a:br>
            <a:r>
              <a:rPr lang="en-US" sz="4000" b="1" dirty="0" err="1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  <a:t>Maestría</a:t>
            </a:r>
            <a:r>
              <a:rPr lang="en-US" sz="4000" b="1" dirty="0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  <a:t>en</a:t>
            </a:r>
            <a:r>
              <a:rPr lang="en-US" sz="4000" b="1" dirty="0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  <a:t> Ciencia de Datos</a:t>
            </a:r>
            <a:br>
              <a:rPr lang="en-US" sz="4000" b="1" dirty="0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</a:br>
            <a:br>
              <a:rPr lang="en-US" sz="4000" b="1" dirty="0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</a:br>
            <a:r>
              <a:rPr lang="en-US" sz="4000" b="1" dirty="0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  <a:t>Proyecto Final</a:t>
            </a:r>
            <a:br>
              <a:rPr lang="en-US" sz="4000" b="1" dirty="0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</a:br>
            <a:br>
              <a:rPr lang="en-US" sz="4000" b="1" dirty="0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</a:br>
            <a:r>
              <a:rPr lang="es-ES" sz="4000" b="1" dirty="0">
                <a:solidFill>
                  <a:schemeClr val="dk1"/>
                </a:solidFill>
                <a:latin typeface="LilyUPC" panose="020B0502040204020203" pitchFamily="34" charset="-34"/>
                <a:ea typeface="Manrope"/>
                <a:cs typeface="LilyUPC" panose="020B0502040204020203" pitchFamily="34" charset="-34"/>
              </a:rPr>
              <a:t>Ingeniería de Datos</a:t>
            </a:r>
            <a:endParaRPr lang="en-US" sz="4000" b="1" dirty="0">
              <a:latin typeface="LilyUPC" panose="020B0502040204020203" pitchFamily="34" charset="-34"/>
              <a:cs typeface="LilyUPC" panose="020B0502040204020203" pitchFamily="34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F6355-15EF-E4C8-3E45-6A7B562F1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195991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chemeClr val="dk1"/>
                </a:solidFill>
                <a:latin typeface="Funnel Sans Light"/>
                <a:ea typeface="Funnel Sans Light"/>
              </a:rPr>
              <a:t>GRUPO 1: </a:t>
            </a:r>
            <a:r>
              <a:rPr lang="en-US" dirty="0">
                <a:solidFill>
                  <a:schemeClr val="dk1"/>
                </a:solidFill>
                <a:latin typeface="Franklin Gothic Book" panose="020B0503020102020204" pitchFamily="34" charset="0"/>
                <a:ea typeface="Funnel Sans Light"/>
              </a:rPr>
              <a:t>Esteban Espinoza de </a:t>
            </a:r>
            <a:r>
              <a:rPr lang="en-US" dirty="0" err="1">
                <a:solidFill>
                  <a:schemeClr val="dk1"/>
                </a:solidFill>
                <a:latin typeface="Franklin Gothic Book" panose="020B0503020102020204" pitchFamily="34" charset="0"/>
                <a:ea typeface="Funnel Sans Light"/>
              </a:rPr>
              <a:t>los</a:t>
            </a:r>
            <a:r>
              <a:rPr lang="en-US" dirty="0">
                <a:solidFill>
                  <a:schemeClr val="dk1"/>
                </a:solidFill>
                <a:latin typeface="Franklin Gothic Book" panose="020B0503020102020204" pitchFamily="34" charset="0"/>
                <a:ea typeface="Funnel Sans Light"/>
              </a:rPr>
              <a:t> Monteros, Ricardo Parra, Daniel Arcos</a:t>
            </a:r>
            <a:endParaRPr lang="en-US" dirty="0">
              <a:solidFill>
                <a:srgbClr val="FFFFFF"/>
              </a:solidFill>
              <a:latin typeface="Franklin Gothic Book" panose="020B0503020102020204" pitchFamily="34" charset="0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D6F32B-8E5A-6963-A2CC-52EFF9F44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44" y="1217300"/>
            <a:ext cx="1049311" cy="104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D430-30D4-66A7-60B1-A7A1D59BC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📊 📦 Dataset: eCommerce Behavior Data (Multi-Category Store)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07AC8-EDC6-6EC2-9F53-53C26DE53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sz="2600" b="1" dirty="0"/>
              <a:t>📅 ⏱️ Alcance del </a:t>
            </a:r>
            <a:r>
              <a:rPr lang="es-ES" sz="2600" b="1" dirty="0" err="1"/>
              <a:t>dataset</a:t>
            </a:r>
            <a:endParaRPr lang="es-ES" sz="2600" b="1" dirty="0"/>
          </a:p>
          <a:p>
            <a:r>
              <a:rPr lang="es-ES" sz="2600" dirty="0"/>
              <a:t>Periodo: </a:t>
            </a:r>
            <a:r>
              <a:rPr lang="es-ES" sz="2600" b="1" dirty="0"/>
              <a:t>Octubre 2019 – Abril 2020 (7 meses)</a:t>
            </a:r>
            <a:r>
              <a:rPr lang="es-ES" sz="2600" dirty="0"/>
              <a:t> </a:t>
            </a:r>
          </a:p>
          <a:p>
            <a:r>
              <a:rPr lang="es-ES" sz="2600" dirty="0"/>
              <a:t>Tamaño: </a:t>
            </a:r>
            <a:r>
              <a:rPr lang="es-ES" sz="2600" b="1" dirty="0"/>
              <a:t>285 millones de eventos</a:t>
            </a:r>
            <a:r>
              <a:rPr lang="es-ES" sz="2600" dirty="0"/>
              <a:t> </a:t>
            </a:r>
          </a:p>
          <a:p>
            <a:r>
              <a:rPr lang="es-ES" sz="2600" dirty="0"/>
              <a:t>Tipo de datos: </a:t>
            </a:r>
            <a:r>
              <a:rPr lang="es-ES" sz="2600" b="1" dirty="0"/>
              <a:t>eventos en tiempo real (logs de comportamiento)</a:t>
            </a:r>
            <a:r>
              <a:rPr lang="es-ES" sz="2600" dirty="0"/>
              <a:t> </a:t>
            </a:r>
          </a:p>
          <a:p>
            <a:pPr marL="0" indent="0">
              <a:buNone/>
            </a:pPr>
            <a:r>
              <a:rPr lang="en-US" sz="2600" b="1" dirty="0"/>
              <a:t>⚙️ 📑 Variables </a:t>
            </a:r>
            <a:r>
              <a:rPr lang="en-US" sz="2600" b="1" dirty="0" err="1"/>
              <a:t>principales</a:t>
            </a:r>
            <a:endParaRPr lang="en-US" sz="2600" b="1" dirty="0"/>
          </a:p>
          <a:p>
            <a:r>
              <a:rPr lang="en-US" sz="2600" dirty="0"/>
              <a:t>Las columnas </a:t>
            </a:r>
            <a:r>
              <a:rPr lang="en-US" sz="2600" dirty="0" err="1"/>
              <a:t>más</a:t>
            </a:r>
            <a:r>
              <a:rPr lang="en-US" sz="2600" dirty="0"/>
              <a:t> </a:t>
            </a:r>
            <a:r>
              <a:rPr lang="en-US" sz="2600" dirty="0" err="1"/>
              <a:t>importantes</a:t>
            </a:r>
            <a:r>
              <a:rPr lang="en-US" sz="2600" dirty="0"/>
              <a:t> son:</a:t>
            </a:r>
          </a:p>
          <a:p>
            <a:r>
              <a:rPr lang="en-US" sz="2600" dirty="0" err="1"/>
              <a:t>event_time</a:t>
            </a:r>
            <a:r>
              <a:rPr lang="en-US" sz="2600" dirty="0"/>
              <a:t>: </a:t>
            </a:r>
            <a:r>
              <a:rPr lang="en-US" sz="2600" dirty="0" err="1"/>
              <a:t>fecha</a:t>
            </a:r>
            <a:r>
              <a:rPr lang="en-US" sz="2600" dirty="0"/>
              <a:t> y hora del </a:t>
            </a:r>
            <a:r>
              <a:rPr lang="en-US" sz="2600" dirty="0" err="1"/>
              <a:t>evento</a:t>
            </a:r>
            <a:r>
              <a:rPr lang="en-US" sz="2600" dirty="0"/>
              <a:t> </a:t>
            </a:r>
          </a:p>
          <a:p>
            <a:r>
              <a:rPr lang="en-US" sz="2600" dirty="0" err="1"/>
              <a:t>event_type</a:t>
            </a:r>
            <a:r>
              <a:rPr lang="en-US" sz="2600" dirty="0"/>
              <a:t>: </a:t>
            </a:r>
            <a:r>
              <a:rPr lang="en-US" sz="2600" dirty="0" err="1"/>
              <a:t>tipo</a:t>
            </a:r>
            <a:r>
              <a:rPr lang="en-US" sz="2600" dirty="0"/>
              <a:t> de </a:t>
            </a:r>
            <a:r>
              <a:rPr lang="en-US" sz="2600" dirty="0" err="1"/>
              <a:t>acción</a:t>
            </a:r>
            <a:r>
              <a:rPr lang="en-US" sz="2600" dirty="0"/>
              <a:t> (view, cart, purchase…) </a:t>
            </a:r>
          </a:p>
          <a:p>
            <a:r>
              <a:rPr lang="en-US" sz="2600" dirty="0" err="1"/>
              <a:t>product_id</a:t>
            </a:r>
            <a:r>
              <a:rPr lang="en-US" sz="2600" dirty="0"/>
              <a:t>: </a:t>
            </a:r>
            <a:r>
              <a:rPr lang="en-US" sz="2600" dirty="0" err="1"/>
              <a:t>identificador</a:t>
            </a:r>
            <a:r>
              <a:rPr lang="en-US" sz="2600" dirty="0"/>
              <a:t> del </a:t>
            </a:r>
            <a:r>
              <a:rPr lang="en-US" sz="2600" dirty="0" err="1"/>
              <a:t>producto</a:t>
            </a:r>
            <a:r>
              <a:rPr lang="en-US" sz="2600" dirty="0"/>
              <a:t> </a:t>
            </a:r>
          </a:p>
          <a:p>
            <a:r>
              <a:rPr lang="en-US" sz="2600" dirty="0" err="1"/>
              <a:t>category_id</a:t>
            </a:r>
            <a:r>
              <a:rPr lang="en-US" sz="2600" dirty="0"/>
              <a:t> / </a:t>
            </a:r>
            <a:r>
              <a:rPr lang="en-US" sz="2600" dirty="0" err="1"/>
              <a:t>category_code</a:t>
            </a:r>
            <a:r>
              <a:rPr lang="en-US" sz="2600" dirty="0"/>
              <a:t>: </a:t>
            </a:r>
            <a:r>
              <a:rPr lang="en-US" sz="2600" dirty="0" err="1"/>
              <a:t>categoría</a:t>
            </a:r>
            <a:r>
              <a:rPr lang="en-US" sz="2600" dirty="0"/>
              <a:t> del </a:t>
            </a:r>
            <a:r>
              <a:rPr lang="en-US" sz="2600" dirty="0" err="1"/>
              <a:t>producto</a:t>
            </a:r>
            <a:r>
              <a:rPr lang="en-US" sz="2600" dirty="0"/>
              <a:t> </a:t>
            </a:r>
          </a:p>
          <a:p>
            <a:r>
              <a:rPr lang="en-US" sz="2600" dirty="0"/>
              <a:t>Brand: </a:t>
            </a:r>
            <a:r>
              <a:rPr lang="en-US" sz="2600" dirty="0" err="1"/>
              <a:t>marca</a:t>
            </a:r>
            <a:r>
              <a:rPr lang="en-US" sz="2600" dirty="0"/>
              <a:t> </a:t>
            </a:r>
          </a:p>
          <a:p>
            <a:r>
              <a:rPr lang="en-US" sz="2600" dirty="0"/>
              <a:t>Price: </a:t>
            </a:r>
            <a:r>
              <a:rPr lang="en-US" sz="2600" dirty="0" err="1"/>
              <a:t>precio</a:t>
            </a:r>
            <a:r>
              <a:rPr lang="en-US" sz="2600" dirty="0"/>
              <a:t> </a:t>
            </a:r>
          </a:p>
          <a:p>
            <a:r>
              <a:rPr lang="en-US" sz="2600" dirty="0" err="1"/>
              <a:t>user_id</a:t>
            </a:r>
            <a:r>
              <a:rPr lang="en-US" sz="2600" dirty="0"/>
              <a:t>: </a:t>
            </a:r>
            <a:r>
              <a:rPr lang="en-US" sz="2600" dirty="0" err="1"/>
              <a:t>usuario</a:t>
            </a:r>
            <a:r>
              <a:rPr lang="en-US" sz="2600" dirty="0"/>
              <a:t> </a:t>
            </a:r>
          </a:p>
          <a:p>
            <a:r>
              <a:rPr lang="en-US" sz="2600" dirty="0" err="1"/>
              <a:t>user_session</a:t>
            </a:r>
            <a:r>
              <a:rPr lang="en-US" sz="2600" dirty="0"/>
              <a:t>: </a:t>
            </a:r>
            <a:r>
              <a:rPr lang="en-US" sz="2600" dirty="0" err="1"/>
              <a:t>sesión</a:t>
            </a:r>
            <a:r>
              <a:rPr lang="en-US" sz="2600" dirty="0"/>
              <a:t> del </a:t>
            </a:r>
            <a:r>
              <a:rPr lang="en-US" sz="2600" dirty="0" err="1"/>
              <a:t>usuario</a:t>
            </a:r>
            <a:r>
              <a:rPr lang="en-US" sz="2600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32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CDDF-6C8E-8F55-B539-E368940F1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🧩 🔷 Visión general de la arquitectura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CDF226-1FA9-E96E-73C0-545699D71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05" y="2020497"/>
            <a:ext cx="101683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40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6C09-2BEE-19FA-B915-30D66EF5C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🧩 🔷 Visión general de la arquitectura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584BF-796C-4B7E-7098-644BD20EC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Se usa Apache Kafka como sistema de mensajería.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Instalación</a:t>
            </a:r>
            <a:r>
              <a:rPr lang="en-US" b="1" dirty="0"/>
              <a:t> de </a:t>
            </a:r>
            <a:r>
              <a:rPr lang="en-US" b="1" dirty="0" err="1"/>
              <a:t>librerías</a:t>
            </a:r>
            <a:r>
              <a:rPr lang="en-US" b="1" dirty="0"/>
              <a:t>: </a:t>
            </a:r>
            <a:r>
              <a:rPr lang="en-US" dirty="0"/>
              <a:t>pandas, </a:t>
            </a:r>
            <a:r>
              <a:rPr lang="en-US" dirty="0" err="1"/>
              <a:t>kafka</a:t>
            </a:r>
            <a:r>
              <a:rPr lang="en-US" dirty="0"/>
              <a:t>-python, psycopg2-binary, </a:t>
            </a:r>
            <a:r>
              <a:rPr lang="en-US" dirty="0" err="1"/>
              <a:t>sqlalchemy</a:t>
            </a:r>
            <a:r>
              <a:rPr lang="en-US" dirty="0"/>
              <a:t>, watchdog.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Procesamiento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(ETL batch).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Monitor de </a:t>
            </a:r>
            <a:r>
              <a:rPr lang="pt-BR" b="1" dirty="0" err="1"/>
              <a:t>archivos</a:t>
            </a:r>
            <a:r>
              <a:rPr lang="pt-BR" b="1" dirty="0"/>
              <a:t> </a:t>
            </a:r>
            <a:r>
              <a:rPr lang="pt-BR" dirty="0"/>
              <a:t>(trigger automático)</a:t>
            </a:r>
            <a:r>
              <a:rPr lang="es-ES" dirty="0"/>
              <a:t> para detectar cuando aparece un archivo nuevo.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Procesamiento</a:t>
            </a:r>
            <a:r>
              <a:rPr lang="en-US" dirty="0"/>
              <a:t> con Spark (</a:t>
            </a:r>
            <a:r>
              <a:rPr lang="en-US" dirty="0" err="1"/>
              <a:t>capa</a:t>
            </a:r>
            <a:r>
              <a:rPr lang="en-US" dirty="0"/>
              <a:t> de </a:t>
            </a:r>
            <a:r>
              <a:rPr lang="en-US" dirty="0" err="1"/>
              <a:t>procesamiento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Se levanta un listener con apache Kafka.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Simulación de comportamiento de usuario.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err="1"/>
              <a:t>Infraestructura</a:t>
            </a:r>
            <a:r>
              <a:rPr lang="nl-NL" dirty="0"/>
              <a:t> de </a:t>
            </a:r>
            <a:r>
              <a:rPr lang="nl-NL" dirty="0" err="1"/>
              <a:t>Spark</a:t>
            </a:r>
            <a:r>
              <a:rPr lang="nl-NL" dirty="0"/>
              <a:t> (</a:t>
            </a:r>
            <a:r>
              <a:rPr lang="nl-NL" dirty="0" err="1"/>
              <a:t>workers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03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410D-AAAB-EDD9-486F-77A372362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Se usa Apache Kafka como sistema de mensajería.</a:t>
            </a:r>
            <a:br>
              <a:rPr lang="es-E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173028-C594-375E-E514-EA5715CFA3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4097" y="2176302"/>
            <a:ext cx="8345065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14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0F1A4-F868-4A06-DF3D-441BC135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Instalación</a:t>
            </a:r>
            <a:r>
              <a:rPr lang="en-US" b="1" dirty="0"/>
              <a:t> de </a:t>
            </a:r>
            <a:r>
              <a:rPr lang="en-US" b="1" dirty="0" err="1"/>
              <a:t>librerías</a:t>
            </a:r>
            <a:r>
              <a:rPr lang="en-US" b="1" dirty="0"/>
              <a:t>: </a:t>
            </a:r>
            <a:r>
              <a:rPr lang="en-US" dirty="0"/>
              <a:t>pandas, </a:t>
            </a:r>
            <a:r>
              <a:rPr lang="en-US" dirty="0" err="1"/>
              <a:t>kafka</a:t>
            </a:r>
            <a:r>
              <a:rPr lang="en-US" dirty="0"/>
              <a:t>-python, psycopg2-binary, </a:t>
            </a:r>
            <a:r>
              <a:rPr lang="en-US" dirty="0" err="1"/>
              <a:t>sqlalchemy</a:t>
            </a:r>
            <a:r>
              <a:rPr lang="en-US" dirty="0"/>
              <a:t>, watchdog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949B-B96D-FB57-C244-CB9994FC6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27E3B1-84F9-49F1-54B2-DD9100274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08" y="2103450"/>
            <a:ext cx="9249578" cy="37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79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A507-C19E-6EB3-2D8A-E1617BE8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Procesamiento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(ETL batch).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51FE9C-FDBB-875B-1815-7B1DC9C7B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967" t="10063" b="48597"/>
          <a:stretch>
            <a:fillRect/>
          </a:stretch>
        </p:blipFill>
        <p:spPr>
          <a:xfrm>
            <a:off x="704538" y="2413416"/>
            <a:ext cx="11359493" cy="326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3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86058-41B9-E288-9D7B-26C7A85C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Monitor de </a:t>
            </a:r>
            <a:r>
              <a:rPr lang="pt-BR" b="1" dirty="0" err="1"/>
              <a:t>archivos</a:t>
            </a:r>
            <a:r>
              <a:rPr lang="pt-BR" b="1" dirty="0"/>
              <a:t> </a:t>
            </a:r>
            <a:r>
              <a:rPr lang="pt-BR" dirty="0"/>
              <a:t>(trigger automático)</a:t>
            </a:r>
            <a:r>
              <a:rPr lang="es-ES" dirty="0"/>
              <a:t> para detectar cuando aparece un archivo nuevo.</a:t>
            </a:r>
            <a:br>
              <a:rPr lang="es-E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55E4C7-70D2-6D0D-40FE-E627C7D715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56034"/>
            <a:ext cx="10283193" cy="298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435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F7A2-D37A-F989-3D1E-4B21435A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 levanta un listener con apache Kafka.</a:t>
            </a:r>
            <a:br>
              <a:rPr lang="it-IT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A4B3F-86B1-E18D-E1FA-A1DC399C4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61F4E5-B793-D05E-B14D-B34B96F7E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360" y="1939947"/>
            <a:ext cx="9707381" cy="455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46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3CBC-4EE6-4022-B9D2-1620D539D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Simulación de comportamiento de usuario.</a:t>
            </a:r>
            <a:br>
              <a:rPr lang="es-E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02E5B-3D28-977A-FAA0-8B532FC3F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ECE49-8ADD-29A9-6E1C-B37DAE204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925" y="1957103"/>
            <a:ext cx="9400082" cy="490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40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B749F-24AB-870D-4AE8-2793EE34B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Infraestructura</a:t>
            </a:r>
            <a:r>
              <a:rPr lang="nl-NL" dirty="0"/>
              <a:t> de </a:t>
            </a:r>
            <a:r>
              <a:rPr lang="nl-NL" dirty="0" err="1"/>
              <a:t>Spark</a:t>
            </a:r>
            <a:r>
              <a:rPr lang="nl-NL" dirty="0"/>
              <a:t> (</a:t>
            </a:r>
            <a:r>
              <a:rPr lang="nl-NL" dirty="0" err="1"/>
              <a:t>workers</a:t>
            </a:r>
            <a:r>
              <a:rPr lang="nl-NL" dirty="0"/>
              <a:t>)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355434-261E-05F9-0E51-118D07FB8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6192" y="1825625"/>
            <a:ext cx="935961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35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536DA-EE18-FE4D-30A4-7672096DF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F34FF-41A3-2CBC-6595-9AF0A3F15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23" y="86766"/>
            <a:ext cx="10515600" cy="1325563"/>
          </a:xfrm>
        </p:spPr>
        <p:txBody>
          <a:bodyPr/>
          <a:lstStyle/>
          <a:p>
            <a:r>
              <a:rPr lang="es-EC" dirty="0"/>
              <a:t>Conclusiones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DF374-B726-5020-88D3-4DCC77997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23" y="1540812"/>
            <a:ext cx="11922177" cy="435133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s-ES" sz="7200" b="1" dirty="0"/>
              <a:t>1. Arquitectura híbrida sólida</a:t>
            </a:r>
          </a:p>
          <a:p>
            <a:pPr marL="0" indent="0">
              <a:buNone/>
            </a:pPr>
            <a:r>
              <a:rPr lang="es-ES" sz="7200" dirty="0"/>
              <a:t>El proyecto implementa correctamente una arquitectura </a:t>
            </a:r>
            <a:r>
              <a:rPr lang="es-ES" sz="7200" b="1" dirty="0" err="1"/>
              <a:t>batch</a:t>
            </a:r>
            <a:r>
              <a:rPr lang="es-ES" sz="7200" b="1" dirty="0"/>
              <a:t> + </a:t>
            </a:r>
            <a:r>
              <a:rPr lang="es-ES" sz="7200" b="1" dirty="0" err="1"/>
              <a:t>streaming</a:t>
            </a:r>
            <a:r>
              <a:rPr lang="es-ES" sz="7200" dirty="0"/>
              <a:t>, permitiendo integrar datos históricos y eventos en tiempo real en un mismo sistema analítico.</a:t>
            </a:r>
          </a:p>
          <a:p>
            <a:pPr marL="0" indent="0">
              <a:buNone/>
            </a:pPr>
            <a:r>
              <a:rPr lang="es-ES" sz="7200" b="1" dirty="0"/>
              <a:t>2. Integración adecuada de tecnologías</a:t>
            </a:r>
          </a:p>
          <a:p>
            <a:pPr marL="0" indent="0">
              <a:buNone/>
            </a:pPr>
            <a:r>
              <a:rPr lang="es-ES" sz="7200" dirty="0"/>
              <a:t>El uso combinado de KNIME, Python, Apache Kafka y Apache Spark demuestra una arquitectura moderna, alineada a prácticas reales de ingeniería de datos.</a:t>
            </a:r>
            <a:br>
              <a:rPr lang="es-ES" sz="7200" dirty="0"/>
            </a:br>
            <a:endParaRPr lang="es-ES" sz="7200" dirty="0"/>
          </a:p>
          <a:p>
            <a:pPr marL="0" indent="0">
              <a:buNone/>
            </a:pPr>
            <a:r>
              <a:rPr lang="es-ES" sz="7200" b="1" dirty="0"/>
              <a:t>3. Procesamiento escalable</a:t>
            </a:r>
          </a:p>
          <a:p>
            <a:pPr marL="0" indent="0">
              <a:buNone/>
            </a:pPr>
            <a:r>
              <a:rPr lang="es-ES" sz="7200" dirty="0"/>
              <a:t>La implementación de múltiples </a:t>
            </a:r>
            <a:r>
              <a:rPr lang="es-ES" sz="7200" dirty="0" err="1"/>
              <a:t>workers</a:t>
            </a:r>
            <a:r>
              <a:rPr lang="es-ES" sz="7200" dirty="0"/>
              <a:t> en Spark permite manejar grandes volúmenes de datos, lo cual es coherente con la naturaleza masiva del </a:t>
            </a:r>
            <a:r>
              <a:rPr lang="es-ES" sz="7200" dirty="0" err="1"/>
              <a:t>dataset</a:t>
            </a:r>
            <a:r>
              <a:rPr lang="es-ES" sz="7200" dirty="0"/>
              <a:t> de e-</a:t>
            </a:r>
            <a:r>
              <a:rPr lang="es-ES" sz="7200" dirty="0" err="1"/>
              <a:t>commerce</a:t>
            </a:r>
            <a:r>
              <a:rPr lang="es-ES" sz="72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455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68F46-C4BC-EC89-18A2-8FC0A86F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E50A-0BB8-7E65-6790-EFEA4F055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23" y="86766"/>
            <a:ext cx="10515600" cy="1325563"/>
          </a:xfrm>
        </p:spPr>
        <p:txBody>
          <a:bodyPr/>
          <a:lstStyle/>
          <a:p>
            <a:r>
              <a:rPr lang="es-EC" dirty="0"/>
              <a:t>Conclusiones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8F222-018F-7111-C73E-576C93E13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23" y="1540812"/>
            <a:ext cx="11922177" cy="435133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s-ES" sz="7200" b="1" dirty="0"/>
              <a:t>4. Simulación realista de datos en tiempo real</a:t>
            </a:r>
          </a:p>
          <a:p>
            <a:pPr marL="0" indent="0">
              <a:buNone/>
            </a:pPr>
            <a:r>
              <a:rPr lang="es-ES" sz="7200" dirty="0"/>
              <a:t>El uso de Kafka para simular eventos de usuarios (</a:t>
            </a:r>
            <a:r>
              <a:rPr lang="es-ES" sz="7200" dirty="0" err="1"/>
              <a:t>views</a:t>
            </a:r>
            <a:r>
              <a:rPr lang="es-ES" sz="7200" dirty="0"/>
              <a:t>, </a:t>
            </a:r>
            <a:r>
              <a:rPr lang="es-ES" sz="7200" dirty="0" err="1"/>
              <a:t>cart</a:t>
            </a:r>
            <a:r>
              <a:rPr lang="es-ES" sz="7200" dirty="0"/>
              <a:t>, </a:t>
            </a:r>
            <a:r>
              <a:rPr lang="es-ES" sz="7200" dirty="0" err="1"/>
              <a:t>purchase</a:t>
            </a:r>
            <a:r>
              <a:rPr lang="es-ES" sz="7200" dirty="0"/>
              <a:t>) permite replicar escenarios reales de negocio, facilitando análisis de comportamiento y pruebas de pipelines.</a:t>
            </a:r>
          </a:p>
          <a:p>
            <a:pPr marL="0" indent="0">
              <a:buNone/>
            </a:pPr>
            <a:r>
              <a:rPr lang="es-ES" sz="7200" b="1" dirty="0"/>
              <a:t>5. Centralización en Data </a:t>
            </a:r>
            <a:r>
              <a:rPr lang="es-ES" sz="7200" b="1" dirty="0" err="1"/>
              <a:t>Warehouse</a:t>
            </a:r>
            <a:endParaRPr lang="es-ES" sz="7200" b="1" dirty="0"/>
          </a:p>
          <a:p>
            <a:pPr marL="0" indent="0">
              <a:buNone/>
            </a:pPr>
            <a:r>
              <a:rPr lang="es-ES" sz="7200" dirty="0"/>
              <a:t>El almacenamiento en PostgreSQL permite consolidar información para análisis posteriores, habilitando consultas analíticas y generación de </a:t>
            </a:r>
            <a:r>
              <a:rPr lang="es-ES" sz="7200" dirty="0" err="1"/>
              <a:t>KPIs</a:t>
            </a:r>
            <a:r>
              <a:rPr lang="es-ES" sz="7200" dirty="0"/>
              <a:t>.</a:t>
            </a:r>
          </a:p>
          <a:p>
            <a:pPr marL="0" indent="0">
              <a:buNone/>
            </a:pPr>
            <a:r>
              <a:rPr lang="es-ES" sz="7200" b="1" dirty="0"/>
              <a:t>6. Automatización del flujo de datos</a:t>
            </a:r>
          </a:p>
          <a:p>
            <a:pPr marL="0" indent="0">
              <a:buNone/>
            </a:pPr>
            <a:r>
              <a:rPr lang="es-ES" sz="7200" dirty="0"/>
              <a:t>El uso de monitoreo de archivos (</a:t>
            </a:r>
            <a:r>
              <a:rPr lang="es-ES" sz="7200" dirty="0" err="1"/>
              <a:t>watchdog</a:t>
            </a:r>
            <a:r>
              <a:rPr lang="es-ES" sz="7200" dirty="0"/>
              <a:t>) permite activar procesos automáticamente, acercando la solución a un sistema orientado a eventos.</a:t>
            </a:r>
          </a:p>
          <a:p>
            <a:pPr marL="0" indent="0">
              <a:buNone/>
            </a:pPr>
            <a:r>
              <a:rPr lang="es-ES" sz="7200" b="1" dirty="0"/>
              <a:t>7. Enfoque alineado a arquitectura Lambda</a:t>
            </a:r>
          </a:p>
          <a:p>
            <a:pPr marL="0" indent="0">
              <a:buNone/>
            </a:pPr>
            <a:r>
              <a:rPr lang="es-ES" sz="7200" dirty="0"/>
              <a:t>El diseño refleja una arquitectura tipo </a:t>
            </a:r>
            <a:r>
              <a:rPr lang="es-ES" sz="7200" b="1" dirty="0"/>
              <a:t>Lambda</a:t>
            </a:r>
            <a:r>
              <a:rPr lang="es-ES" sz="7200" dirty="0"/>
              <a:t>, separando claramente el procesamiento </a:t>
            </a:r>
            <a:r>
              <a:rPr lang="es-ES" sz="7200" dirty="0" err="1"/>
              <a:t>batch</a:t>
            </a:r>
            <a:r>
              <a:rPr lang="es-ES" sz="7200" dirty="0"/>
              <a:t> y </a:t>
            </a:r>
            <a:r>
              <a:rPr lang="es-ES" sz="7200" dirty="0" err="1"/>
              <a:t>streaming</a:t>
            </a:r>
            <a:r>
              <a:rPr lang="es-ES" sz="7200" dirty="0"/>
              <a:t>, lo que mejora la robustez y flexibilidad del sistema.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0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532</Words>
  <Application>Microsoft Office PowerPoint</Application>
  <PresentationFormat>Widescreen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Franklin Gothic Book</vt:lpstr>
      <vt:lpstr>Funnel Sans Light</vt:lpstr>
      <vt:lpstr>LilyUPC</vt:lpstr>
      <vt:lpstr>Office Theme</vt:lpstr>
      <vt:lpstr>Universidad San Francisco de Quito  Maestría en Ciencia de Datos  Proyecto Final  Ingeniería de Datos</vt:lpstr>
      <vt:lpstr>📊 📦 Dataset: eCommerce Behavior Data (Multi-Category Store)</vt:lpstr>
      <vt:lpstr>🧩 🔷 Visión general de la arquitectura</vt:lpstr>
      <vt:lpstr>🧩 🔷 Visión general de la arquitectura</vt:lpstr>
      <vt:lpstr>Se usa Apache Kafka como sistema de mensajería. </vt:lpstr>
      <vt:lpstr>Instalación de librerías: pandas, kafka-python, psycopg2-binary, sqlalchemy, watchdog</vt:lpstr>
      <vt:lpstr>Procesamiento inicial (ETL batch). </vt:lpstr>
      <vt:lpstr>Monitor de archivos (trigger automático) para detectar cuando aparece un archivo nuevo. </vt:lpstr>
      <vt:lpstr>Se levanta un listener con apache Kafka. </vt:lpstr>
      <vt:lpstr>Simulación de comportamiento de usuario. </vt:lpstr>
      <vt:lpstr>Infraestructura de Spark (workers) </vt:lpstr>
      <vt:lpstr>Conclusiones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Isaías Parra Baño</dc:creator>
  <cp:lastModifiedBy>Ricardo Isaías Parra Baño</cp:lastModifiedBy>
  <cp:revision>1</cp:revision>
  <dcterms:created xsi:type="dcterms:W3CDTF">2026-04-18T03:47:55Z</dcterms:created>
  <dcterms:modified xsi:type="dcterms:W3CDTF">2026-04-18T04:36:03Z</dcterms:modified>
</cp:coreProperties>
</file>